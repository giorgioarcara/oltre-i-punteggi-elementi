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media/image1.png" ContentType="image/png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_rels/slideLayout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746038" cy="899795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23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2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9B26840-ADBE-4632-B75D-591D23C0BC1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ldImg"/>
          </p:nvPr>
        </p:nvSpPr>
        <p:spPr>
          <a:xfrm>
            <a:off x="1000080" y="685800"/>
            <a:ext cx="4857480" cy="3428640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 defTabSz="621000">
              <a:lnSpc>
                <a:spcPct val="100000"/>
              </a:lnSpc>
              <a:buNone/>
              <a:defRPr b="0" lang="it-IT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621000">
              <a:lnSpc>
                <a:spcPct val="100000"/>
              </a:lnSpc>
              <a:buNone/>
            </a:pPr>
            <a:fld id="{875B5B6A-E11D-4E89-B3E6-9A14B08A230B}" type="slidenum">
              <a:rPr b="0" lang="it-IT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2B0486-9523-4CC5-BC70-60C079EC7C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55800" y="2795040"/>
            <a:ext cx="10833840" cy="19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37200" y="2105280"/>
            <a:ext cx="11471040" cy="52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D45E58-7A7E-41DB-A986-49ABD84D78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55800" y="2795040"/>
            <a:ext cx="10833840" cy="19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37200" y="2105280"/>
            <a:ext cx="11471040" cy="52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E6A94D-4E57-4BAF-A043-DA0DF51114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55800" y="2795040"/>
            <a:ext cx="10833840" cy="19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37200" y="2105280"/>
            <a:ext cx="5597640" cy="52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515280" y="2105280"/>
            <a:ext cx="5597640" cy="52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A7D60F-41EB-4C85-AC16-A1B5B87AB8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55800" y="2795040"/>
            <a:ext cx="10833840" cy="19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4743E1-A9AB-414D-AD22-9C6C2407D4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55800" y="2795040"/>
            <a:ext cx="10833840" cy="894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780AD9-902E-4200-A756-EB32D4DDD7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55800" y="2795040"/>
            <a:ext cx="10833840" cy="19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37200" y="2105280"/>
            <a:ext cx="5597640" cy="248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515280" y="2105280"/>
            <a:ext cx="5597640" cy="52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37200" y="4831200"/>
            <a:ext cx="5597640" cy="248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6D66A6-581A-4A37-B859-C7FC41FCBF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55800" y="2795040"/>
            <a:ext cx="10833840" cy="19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37200" y="2105280"/>
            <a:ext cx="5597640" cy="52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515280" y="2105280"/>
            <a:ext cx="5597640" cy="248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515280" y="4831200"/>
            <a:ext cx="5597640" cy="248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A03C41-00C3-45BA-990D-FF5C6106E9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55800" y="2795040"/>
            <a:ext cx="10833840" cy="19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37200" y="2105280"/>
            <a:ext cx="5597640" cy="248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515280" y="2105280"/>
            <a:ext cx="5597640" cy="248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37200" y="4831200"/>
            <a:ext cx="11471040" cy="248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09A5EC-51A1-4C1A-B536-D08C7845F3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55800" y="2795040"/>
            <a:ext cx="10833840" cy="19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37200" y="2105280"/>
            <a:ext cx="11471040" cy="248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37200" y="4831200"/>
            <a:ext cx="11471040" cy="248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D0DBFD-DDB4-4DB0-B0F2-C2E7FB575A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55800" y="2795040"/>
            <a:ext cx="10833840" cy="19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37200" y="2105280"/>
            <a:ext cx="5597640" cy="248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515280" y="2105280"/>
            <a:ext cx="5597640" cy="248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37200" y="4831200"/>
            <a:ext cx="5597640" cy="248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515280" y="4831200"/>
            <a:ext cx="5597640" cy="248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322C6F-BCB9-4891-A8AB-87AEA399908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55800" y="2795040"/>
            <a:ext cx="10833840" cy="19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37200" y="2105280"/>
            <a:ext cx="3693600" cy="248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515840" y="2105280"/>
            <a:ext cx="3693600" cy="248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394480" y="2105280"/>
            <a:ext cx="3693600" cy="248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37200" y="4831200"/>
            <a:ext cx="3693600" cy="248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515840" y="4831200"/>
            <a:ext cx="3693600" cy="248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394480" y="4831200"/>
            <a:ext cx="3693600" cy="248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F63D55-8ADD-4C7C-AF67-9419E202769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55800" y="2795040"/>
            <a:ext cx="10833840" cy="1928520"/>
          </a:xfrm>
          <a:prstGeom prst="rect">
            <a:avLst/>
          </a:prstGeom>
          <a:noFill/>
          <a:ln w="0">
            <a:noFill/>
          </a:ln>
        </p:spPr>
        <p:txBody>
          <a:bodyPr lIns="124200" rIns="124200" tIns="62280" bIns="62280" anchor="ctr">
            <a:noAutofit/>
          </a:bodyPr>
          <a:p>
            <a:pPr indent="0" algn="ctr" defTabSz="621000">
              <a:lnSpc>
                <a:spcPct val="100000"/>
              </a:lnSpc>
              <a:buNone/>
            </a:pPr>
            <a:r>
              <a:rPr b="0" lang="it-IT" sz="6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37200" y="8339760"/>
            <a:ext cx="2973600" cy="478800"/>
          </a:xfrm>
          <a:prstGeom prst="rect">
            <a:avLst/>
          </a:prstGeom>
          <a:noFill/>
          <a:ln w="0">
            <a:noFill/>
          </a:ln>
        </p:spPr>
        <p:txBody>
          <a:bodyPr lIns="124200" rIns="124200" tIns="62280" bIns="62280" anchor="ctr">
            <a:noAutofit/>
          </a:bodyPr>
          <a:lstStyle>
            <a:lvl1pPr indent="0" defTabSz="621000">
              <a:lnSpc>
                <a:spcPct val="100000"/>
              </a:lnSpc>
              <a:buNone/>
              <a:defRPr b="0" lang="en-US" sz="16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621000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354920" y="8339760"/>
            <a:ext cx="4035960" cy="478800"/>
          </a:xfrm>
          <a:prstGeom prst="rect">
            <a:avLst/>
          </a:prstGeom>
          <a:noFill/>
          <a:ln w="0">
            <a:noFill/>
          </a:ln>
        </p:spPr>
        <p:txBody>
          <a:bodyPr lIns="124200" rIns="124200" tIns="62280" bIns="6228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9134640" y="8339760"/>
            <a:ext cx="2973600" cy="478800"/>
          </a:xfrm>
          <a:prstGeom prst="rect">
            <a:avLst/>
          </a:prstGeom>
          <a:noFill/>
          <a:ln w="0">
            <a:noFill/>
          </a:ln>
        </p:spPr>
        <p:txBody>
          <a:bodyPr lIns="124200" rIns="124200" tIns="62280" bIns="62280" anchor="ctr">
            <a:noAutofit/>
          </a:bodyPr>
          <a:lstStyle>
            <a:lvl1pPr indent="0" algn="r" defTabSz="621000">
              <a:lnSpc>
                <a:spcPct val="100000"/>
              </a:lnSpc>
              <a:buNone/>
              <a:defRPr b="0" lang="en-US" sz="16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621000">
              <a:lnSpc>
                <a:spcPct val="100000"/>
              </a:lnSpc>
              <a:buNone/>
            </a:pPr>
            <a:fld id="{736BAEAE-46F0-468B-A13A-24DA55669EF9}" type="slidenum">
              <a:rPr b="0" lang="en-US" sz="16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37200" y="2105280"/>
            <a:ext cx="11471040" cy="52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4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7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7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8"/>
          <p:cNvSpPr/>
          <p:nvPr/>
        </p:nvSpPr>
        <p:spPr>
          <a:xfrm>
            <a:off x="7069680" y="712440"/>
            <a:ext cx="163800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2240" rIns="102240" tIns="51120" bIns="51120" anchor="t">
            <a:spAutoFit/>
          </a:bodyPr>
          <a:p>
            <a:pPr defTabSz="621000">
              <a:lnSpc>
                <a:spcPct val="100000"/>
              </a:lnSpc>
            </a:pPr>
            <a:r>
              <a:rPr b="1" lang="en-US" sz="2700" spc="-1" strike="noStrike">
                <a:solidFill>
                  <a:schemeClr val="dk1"/>
                </a:solidFill>
                <a:latin typeface="Alegreya"/>
              </a:rPr>
              <a:t>Examinee</a:t>
            </a:r>
            <a:endParaRPr b="0" lang="en-US" sz="2700" spc="-1" strike="noStrike">
              <a:solidFill>
                <a:srgbClr val="000000"/>
              </a:solidFill>
              <a:latin typeface="Alegreya"/>
            </a:endParaRPr>
          </a:p>
        </p:txBody>
      </p:sp>
      <p:sp>
        <p:nvSpPr>
          <p:cNvPr id="48" name="TextBox 19"/>
          <p:cNvSpPr/>
          <p:nvPr/>
        </p:nvSpPr>
        <p:spPr>
          <a:xfrm>
            <a:off x="4618800" y="1745640"/>
            <a:ext cx="3285000" cy="10008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102240" rIns="102240" tIns="51120" bIns="51120" anchor="t">
            <a:spAutoFit/>
          </a:bodyPr>
          <a:p>
            <a:pPr algn="ctr" defTabSz="621000">
              <a:lnSpc>
                <a:spcPct val="100000"/>
              </a:lnSpc>
            </a:pPr>
            <a:r>
              <a:rPr b="1" lang="en-US" sz="2300" spc="-1" strike="noStrike">
                <a:solidFill>
                  <a:schemeClr val="dk1"/>
                </a:solidFill>
                <a:latin typeface="Alegreya"/>
              </a:rPr>
              <a:t>Cognitive Function</a:t>
            </a:r>
            <a:br>
              <a:rPr sz="1800"/>
            </a:br>
            <a:r>
              <a:rPr b="1" lang="en-US" sz="1800" spc="-1" strike="noStrike">
                <a:solidFill>
                  <a:schemeClr val="dk1"/>
                </a:solidFill>
                <a:latin typeface="Alegreya"/>
              </a:rPr>
              <a:t>(construct of interest)</a:t>
            </a:r>
            <a:endParaRPr b="0" lang="en-US" sz="1800" spc="-1" strike="noStrike">
              <a:solidFill>
                <a:srgbClr val="000000"/>
              </a:solidFill>
              <a:latin typeface="Alegreya"/>
            </a:endParaRPr>
          </a:p>
          <a:p>
            <a:pPr algn="ctr" defTabSz="6210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legreya"/>
              </a:rPr>
              <a:t>(e.g., Short Term Memory)</a:t>
            </a:r>
            <a:endParaRPr b="0" lang="en-US" sz="1800" spc="-1" strike="noStrike">
              <a:solidFill>
                <a:srgbClr val="000000"/>
              </a:solidFill>
              <a:latin typeface="Alegreya"/>
            </a:endParaRPr>
          </a:p>
        </p:txBody>
      </p:sp>
      <p:cxnSp>
        <p:nvCxnSpPr>
          <p:cNvPr id="49" name="Straight Arrow Connector 20"/>
          <p:cNvCxnSpPr>
            <a:endCxn id="50" idx="0"/>
          </p:cNvCxnSpPr>
          <p:nvPr/>
        </p:nvCxnSpPr>
        <p:spPr>
          <a:xfrm flipH="1">
            <a:off x="6247800" y="2767320"/>
            <a:ext cx="1080" cy="95508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51" name="Rectangle 21"/>
          <p:cNvSpPr/>
          <p:nvPr/>
        </p:nvSpPr>
        <p:spPr>
          <a:xfrm>
            <a:off x="8393760" y="1745640"/>
            <a:ext cx="3214440" cy="100080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102240" rIns="102240" tIns="51120" bIns="51120" anchor="t">
            <a:spAutoFit/>
          </a:bodyPr>
          <a:p>
            <a:pPr algn="ctr" defTabSz="621000">
              <a:lnSpc>
                <a:spcPct val="100000"/>
              </a:lnSpc>
            </a:pPr>
            <a:r>
              <a:rPr b="1" lang="en-US" sz="2300" spc="-1" strike="noStrike">
                <a:solidFill>
                  <a:schemeClr val="dk1"/>
                </a:solidFill>
                <a:latin typeface="Alegreya"/>
              </a:rPr>
              <a:t>Other variables</a:t>
            </a:r>
            <a:endParaRPr b="0" lang="en-US" sz="2300" spc="-1" strike="noStrike">
              <a:solidFill>
                <a:srgbClr val="000000"/>
              </a:solidFill>
              <a:latin typeface="Alegreya"/>
            </a:endParaRPr>
          </a:p>
          <a:p>
            <a:pPr algn="ctr" defTabSz="6210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legreya"/>
              </a:rPr>
              <a:t>Other cognitive functions,  Mood, Anxiety, Motivation</a:t>
            </a:r>
            <a:endParaRPr b="0" lang="en-US" sz="1800" spc="-1" strike="noStrike">
              <a:solidFill>
                <a:srgbClr val="000000"/>
              </a:solidFill>
              <a:latin typeface="Alegreya"/>
            </a:endParaRPr>
          </a:p>
        </p:txBody>
      </p:sp>
      <p:sp>
        <p:nvSpPr>
          <p:cNvPr id="50" name="TextBox 23"/>
          <p:cNvSpPr/>
          <p:nvPr/>
        </p:nvSpPr>
        <p:spPr>
          <a:xfrm>
            <a:off x="4752000" y="3722040"/>
            <a:ext cx="2991600" cy="72648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102240" rIns="102240" tIns="51120" bIns="51120" anchor="t">
            <a:spAutoFit/>
          </a:bodyPr>
          <a:p>
            <a:pPr algn="ctr" defTabSz="621000">
              <a:lnSpc>
                <a:spcPct val="100000"/>
              </a:lnSpc>
            </a:pPr>
            <a:r>
              <a:rPr b="1" lang="en-US" sz="2300" spc="-1" strike="noStrike">
                <a:solidFill>
                  <a:schemeClr val="dk1"/>
                </a:solidFill>
                <a:latin typeface="Alegreya"/>
              </a:rPr>
              <a:t>Behaviour </a:t>
            </a:r>
            <a:endParaRPr b="0" lang="en-US" sz="2300" spc="-1" strike="noStrike">
              <a:solidFill>
                <a:srgbClr val="000000"/>
              </a:solidFill>
              <a:latin typeface="Alegreya"/>
            </a:endParaRPr>
          </a:p>
          <a:p>
            <a:pPr algn="ctr" defTabSz="6210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legreya"/>
              </a:rPr>
              <a:t>(e.g., Digits correctly recalled)</a:t>
            </a:r>
            <a:endParaRPr b="0" lang="en-US" sz="1800" spc="-1" strike="noStrike">
              <a:solidFill>
                <a:srgbClr val="000000"/>
              </a:solidFill>
              <a:latin typeface="Alegreya"/>
            </a:endParaRPr>
          </a:p>
        </p:txBody>
      </p:sp>
      <p:sp>
        <p:nvSpPr>
          <p:cNvPr id="52" name="TextBox 24"/>
          <p:cNvSpPr/>
          <p:nvPr/>
        </p:nvSpPr>
        <p:spPr>
          <a:xfrm>
            <a:off x="4787640" y="5410800"/>
            <a:ext cx="2909520" cy="8024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102240" rIns="102240" tIns="51120" bIns="51120" anchor="t">
            <a:spAutoFit/>
          </a:bodyPr>
          <a:p>
            <a:pPr algn="ctr" defTabSz="621000">
              <a:lnSpc>
                <a:spcPct val="100000"/>
              </a:lnSpc>
            </a:pPr>
            <a:r>
              <a:rPr b="1" lang="en-US" sz="2300" spc="-1" strike="noStrike">
                <a:solidFill>
                  <a:schemeClr val="dk1"/>
                </a:solidFill>
                <a:latin typeface="Alegreya"/>
              </a:rPr>
              <a:t>Score</a:t>
            </a:r>
            <a:endParaRPr b="0" lang="en-US" sz="2300" spc="-1" strike="noStrike">
              <a:solidFill>
                <a:srgbClr val="000000"/>
              </a:solidFill>
              <a:latin typeface="Alegreya"/>
            </a:endParaRPr>
          </a:p>
          <a:p>
            <a:pPr algn="ctr" defTabSz="621000">
              <a:lnSpc>
                <a:spcPct val="100000"/>
              </a:lnSpc>
            </a:pPr>
            <a:r>
              <a:rPr b="0" lang="en-US" sz="2300" spc="-1" strike="noStrike">
                <a:solidFill>
                  <a:schemeClr val="dk1"/>
                </a:solidFill>
                <a:latin typeface="Alegreya"/>
              </a:rPr>
              <a:t>(e.g., 5)</a:t>
            </a:r>
            <a:endParaRPr b="0" lang="en-US" sz="2300" spc="-1" strike="noStrike">
              <a:solidFill>
                <a:srgbClr val="000000"/>
              </a:solidFill>
              <a:latin typeface="Alegreya"/>
            </a:endParaRPr>
          </a:p>
        </p:txBody>
      </p:sp>
      <p:cxnSp>
        <p:nvCxnSpPr>
          <p:cNvPr id="53" name="Straight Arrow Connector 25"/>
          <p:cNvCxnSpPr>
            <a:stCxn id="51" idx="2"/>
          </p:cNvCxnSpPr>
          <p:nvPr/>
        </p:nvCxnSpPr>
        <p:spPr>
          <a:xfrm flipH="1">
            <a:off x="7373520" y="2746440"/>
            <a:ext cx="2627640" cy="90468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54" name="TextBox 28"/>
          <p:cNvSpPr/>
          <p:nvPr/>
        </p:nvSpPr>
        <p:spPr>
          <a:xfrm>
            <a:off x="7081200" y="4692960"/>
            <a:ext cx="397296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2240" rIns="102240" tIns="51120" bIns="51120" anchor="t">
            <a:spAutoFit/>
          </a:bodyPr>
          <a:p>
            <a:pPr defTabSz="621000">
              <a:lnSpc>
                <a:spcPct val="100000"/>
              </a:lnSpc>
            </a:pPr>
            <a:r>
              <a:rPr b="0" i="1" lang="en-US" sz="2300" spc="-1" strike="noStrike">
                <a:solidFill>
                  <a:schemeClr val="dk1"/>
                </a:solidFill>
                <a:latin typeface="Alegreya"/>
              </a:rPr>
              <a:t>Human-based or automatic scoring</a:t>
            </a:r>
            <a:endParaRPr b="0" lang="en-US" sz="2300" spc="-1" strike="noStrike">
              <a:solidFill>
                <a:srgbClr val="000000"/>
              </a:solidFill>
              <a:latin typeface="Alegreya"/>
            </a:endParaRPr>
          </a:p>
        </p:txBody>
      </p:sp>
      <p:cxnSp>
        <p:nvCxnSpPr>
          <p:cNvPr id="55" name="Straight Arrow Connector 15"/>
          <p:cNvCxnSpPr/>
          <p:nvPr/>
        </p:nvCxnSpPr>
        <p:spPr>
          <a:xfrm flipH="1">
            <a:off x="6247440" y="4456080"/>
            <a:ext cx="1080" cy="954720"/>
          </a:xfrm>
          <a:prstGeom prst="straightConnector1">
            <a:avLst/>
          </a:prstGeom>
          <a:ln w="38160"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56" name="TextBox 26"/>
          <p:cNvSpPr/>
          <p:nvPr/>
        </p:nvSpPr>
        <p:spPr>
          <a:xfrm>
            <a:off x="4097520" y="7896240"/>
            <a:ext cx="4589280" cy="7272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102240" rIns="102240" tIns="51120" bIns="51120" anchor="t">
            <a:spAutoFit/>
          </a:bodyPr>
          <a:p>
            <a:pPr algn="ctr" defTabSz="621000">
              <a:lnSpc>
                <a:spcPct val="100000"/>
              </a:lnSpc>
            </a:pPr>
            <a:r>
              <a:rPr b="1" lang="en-US" sz="2300" spc="-1" strike="noStrike">
                <a:solidFill>
                  <a:schemeClr val="dk1"/>
                </a:solidFill>
                <a:latin typeface="Alegreya"/>
              </a:rPr>
              <a:t>Interpretation</a:t>
            </a:r>
            <a:endParaRPr b="0" lang="en-US" sz="2300" spc="-1" strike="noStrike">
              <a:solidFill>
                <a:srgbClr val="000000"/>
              </a:solidFill>
              <a:latin typeface="Alegreya"/>
            </a:endParaRPr>
          </a:p>
          <a:p>
            <a:pPr algn="ctr" defTabSz="6210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legreya"/>
              </a:rPr>
              <a:t>(e.g., an impairment in short term memory )</a:t>
            </a:r>
            <a:endParaRPr b="0" lang="en-US" sz="1800" spc="-1" strike="noStrike">
              <a:solidFill>
                <a:srgbClr val="000000"/>
              </a:solidFill>
              <a:latin typeface="Alegreya"/>
            </a:endParaRPr>
          </a:p>
        </p:txBody>
      </p:sp>
      <p:sp>
        <p:nvSpPr>
          <p:cNvPr id="57" name="TextBox 29"/>
          <p:cNvSpPr/>
          <p:nvPr/>
        </p:nvSpPr>
        <p:spPr>
          <a:xfrm>
            <a:off x="7505280" y="6835320"/>
            <a:ext cx="289224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2240" rIns="102240" tIns="51120" bIns="51120" anchor="t">
            <a:spAutoFit/>
          </a:bodyPr>
          <a:p>
            <a:pPr defTabSz="621000">
              <a:lnSpc>
                <a:spcPct val="100000"/>
              </a:lnSpc>
            </a:pPr>
            <a:r>
              <a:rPr b="1" lang="en-US" sz="2700" spc="-1" strike="noStrike">
                <a:solidFill>
                  <a:schemeClr val="dk1"/>
                </a:solidFill>
                <a:latin typeface="Alegreya"/>
              </a:rPr>
              <a:t>Neuropsychologist</a:t>
            </a:r>
            <a:endParaRPr b="0" lang="en-US" sz="2700" spc="-1" strike="noStrike">
              <a:solidFill>
                <a:srgbClr val="000000"/>
              </a:solidFill>
              <a:latin typeface="Alegreya"/>
            </a:endParaRPr>
          </a:p>
        </p:txBody>
      </p:sp>
      <p:cxnSp>
        <p:nvCxnSpPr>
          <p:cNvPr id="58" name="Straight Arrow Connector 5"/>
          <p:cNvCxnSpPr/>
          <p:nvPr/>
        </p:nvCxnSpPr>
        <p:spPr>
          <a:xfrm flipH="1">
            <a:off x="3501360" y="5820480"/>
            <a:ext cx="1201680" cy="360"/>
          </a:xfrm>
          <a:prstGeom prst="straightConnector1">
            <a:avLst/>
          </a:prstGeom>
          <a:ln w="50800">
            <a:solidFill>
              <a:srgbClr val="ffffff">
                <a:lumMod val="65000"/>
              </a:srgbClr>
            </a:solidFill>
            <a:prstDash val="dash"/>
            <a:round/>
          </a:ln>
        </p:spPr>
      </p:cxnSp>
      <p:cxnSp>
        <p:nvCxnSpPr>
          <p:cNvPr id="59" name="Straight Arrow Connector 31"/>
          <p:cNvCxnSpPr/>
          <p:nvPr/>
        </p:nvCxnSpPr>
        <p:spPr>
          <a:xfrm flipH="1">
            <a:off x="3501360" y="2222280"/>
            <a:ext cx="26280" cy="3598560"/>
          </a:xfrm>
          <a:prstGeom prst="straightConnector1">
            <a:avLst/>
          </a:prstGeom>
          <a:ln w="50800">
            <a:solidFill>
              <a:srgbClr val="ffffff">
                <a:lumMod val="65000"/>
              </a:srgbClr>
            </a:solidFill>
            <a:prstDash val="dash"/>
            <a:round/>
          </a:ln>
        </p:spPr>
      </p:cxnSp>
      <p:cxnSp>
        <p:nvCxnSpPr>
          <p:cNvPr id="60" name="Straight Arrow Connector 32"/>
          <p:cNvCxnSpPr/>
          <p:nvPr/>
        </p:nvCxnSpPr>
        <p:spPr>
          <a:xfrm flipH="1">
            <a:off x="3527280" y="2222280"/>
            <a:ext cx="1091880" cy="360"/>
          </a:xfrm>
          <a:prstGeom prst="straightConnector1">
            <a:avLst/>
          </a:prstGeom>
          <a:ln w="50800">
            <a:solidFill>
              <a:srgbClr val="ffffff">
                <a:lumMod val="65000"/>
              </a:srgbClr>
            </a:solidFill>
            <a:prstDash val="dash"/>
            <a:round/>
            <a:headEnd len="med" type="triangle" w="med"/>
          </a:ln>
        </p:spPr>
      </p:cxnSp>
      <p:sp>
        <p:nvSpPr>
          <p:cNvPr id="61" name="TextBox 38"/>
          <p:cNvSpPr/>
          <p:nvPr/>
        </p:nvSpPr>
        <p:spPr>
          <a:xfrm>
            <a:off x="1388880" y="3704040"/>
            <a:ext cx="183636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621000">
              <a:lnSpc>
                <a:spcPct val="100000"/>
              </a:lnSpc>
            </a:pPr>
            <a:r>
              <a:rPr b="0" lang="en-US" sz="2300" spc="-1" strike="noStrike">
                <a:solidFill>
                  <a:schemeClr val="dk1"/>
                </a:solidFill>
                <a:latin typeface="Alegreya"/>
              </a:rPr>
              <a:t>Measurement</a:t>
            </a:r>
            <a:endParaRPr b="0" lang="en-US" sz="2300" spc="-1" strike="noStrike">
              <a:solidFill>
                <a:srgbClr val="000000"/>
              </a:solidFill>
              <a:latin typeface="Alegreya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5558400" y="192600"/>
            <a:ext cx="1384200" cy="151704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5522400" y="6363360"/>
            <a:ext cx="1384200" cy="1517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LibreOffice/7.6.0.3$MacOSX_AARCH64 LibreOffice_project/69edd8b8ebc41d00b4de3915dc82f8f0fc3b6265</Application>
  <AppVersion>15.0000</AppVersion>
  <Words>51</Words>
  <Paragraphs>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2022-02-21T17:09:50Z</dcterms:created>
  <dc:creator>Giorgio Arcara</dc:creator>
  <dc:description/>
  <dc:language>en-US</dc:language>
  <cp:lastModifiedBy/>
  <dcterms:modified xsi:type="dcterms:W3CDTF">2026-01-26T07:12:29Z</dcterms:modified>
  <cp:revision>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Custom</vt:lpwstr>
  </property>
  <property fmtid="{D5CDD505-2E9C-101B-9397-08002B2CF9AE}" pid="4" name="Slides">
    <vt:i4>1</vt:i4>
  </property>
</Properties>
</file>